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Quattrocento"/>
      <p:regular r:id="rId19"/>
    </p:embeddedFont>
    <p:embeddedFont>
      <p:font typeface="Quattrocento"/>
      <p:regular r:id="rId20"/>
    </p:embeddedFont>
    <p:embeddedFont>
      <p:font typeface="Quattrocento"/>
      <p:regular r:id="rId21"/>
    </p:embeddedFont>
    <p:embeddedFont>
      <p:font typeface="Quattrocent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5319" y="961668"/>
            <a:ext cx="2190155" cy="279440"/>
          </a:xfrm>
          <a:prstGeom prst="roundRect">
            <a:avLst>
              <a:gd name="adj" fmla="val 6929"/>
            </a:avLst>
          </a:prstGeom>
          <a:solidFill>
            <a:srgbClr val="441709"/>
          </a:solidFill>
          <a:ln/>
        </p:spPr>
      </p:sp>
      <p:sp>
        <p:nvSpPr>
          <p:cNvPr id="4" name="Text 1"/>
          <p:cNvSpPr/>
          <p:nvPr/>
        </p:nvSpPr>
        <p:spPr>
          <a:xfrm>
            <a:off x="742117" y="1010007"/>
            <a:ext cx="1996559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PROYECTO FINAL · AI BOOTCAMP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5319" y="1290757"/>
            <a:ext cx="7853362" cy="949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SmartSpend: De Datos Heredados a Inteligencia de Gasto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645319" y="2426256"/>
            <a:ext cx="7853362" cy="456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Una plataforma de inteligencia de gastos del hogar construida con React, FastAPI, MySQL y Power BI — desde un fichero plano de MS Access hasta un esquema Snowflake normalizado con capacidades predictivas.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5319" y="3022997"/>
            <a:ext cx="645319" cy="968097"/>
          </a:xfrm>
          <a:prstGeom prst="roundRect">
            <a:avLst>
              <a:gd name="adj" fmla="val 360049"/>
            </a:avLst>
          </a:prstGeom>
          <a:solidFill>
            <a:srgbClr val="31525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011" y="3386018"/>
            <a:ext cx="241935" cy="2419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4820" y="3184327"/>
            <a:ext cx="1898213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React 18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45319" y="4115276"/>
            <a:ext cx="645319" cy="968097"/>
          </a:xfrm>
          <a:prstGeom prst="roundRect">
            <a:avLst>
              <a:gd name="adj" fmla="val 360049"/>
            </a:avLst>
          </a:prstGeom>
          <a:solidFill>
            <a:srgbClr val="31525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7011" y="4478298"/>
            <a:ext cx="241935" cy="2419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4820" y="4276606"/>
            <a:ext cx="1898213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FastAPI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45319" y="5207556"/>
            <a:ext cx="645319" cy="968097"/>
          </a:xfrm>
          <a:prstGeom prst="roundRect">
            <a:avLst>
              <a:gd name="adj" fmla="val 360049"/>
            </a:avLst>
          </a:prstGeom>
          <a:solidFill>
            <a:srgbClr val="315251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7011" y="5570577"/>
            <a:ext cx="241935" cy="24193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4820" y="5368885"/>
            <a:ext cx="1898213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MySQL 8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645319" y="6299835"/>
            <a:ext cx="645319" cy="968097"/>
          </a:xfrm>
          <a:prstGeom prst="roundRect">
            <a:avLst>
              <a:gd name="adj" fmla="val 360049"/>
            </a:avLst>
          </a:prstGeom>
          <a:solidFill>
            <a:srgbClr val="315251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7011" y="6662857"/>
            <a:ext cx="241935" cy="24193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14820" y="6461165"/>
            <a:ext cx="1898213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Power BI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13316"/>
            <a:ext cx="12954952" cy="1231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El Problema: Gastos Fragmentados sin Profundidad Analítica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463998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mayoría de las aplicaciones bancarias ofrecen únicamente el gasto mensual total, sin desgloses accionables. En un hogar compartido, los patrones de consumo individuales quedan completamente invisibles.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7724" y="3369707"/>
            <a:ext cx="6372701" cy="1918573"/>
          </a:xfrm>
          <a:prstGeom prst="roundRect">
            <a:avLst>
              <a:gd name="adj" fmla="val 1638"/>
            </a:avLst>
          </a:prstGeom>
          <a:solidFill>
            <a:srgbClr val="123332"/>
          </a:solidFill>
          <a:ln w="22860">
            <a:solidFill>
              <a:srgbClr val="4A6B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0015" y="3601998"/>
            <a:ext cx="4366379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📦</a:t>
            </a:r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Seguimiento de Precios por Artículo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70015" y="4050863"/>
            <a:ext cx="5908119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Imposible monitorizar cómo varía el precio de un producto específico (ej. plátanos) entre distintos supermercados a lo largo del tiempo.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19856" y="3369707"/>
            <a:ext cx="6372820" cy="1918573"/>
          </a:xfrm>
          <a:prstGeom prst="roundRect">
            <a:avLst>
              <a:gd name="adj" fmla="val 1638"/>
            </a:avLst>
          </a:prstGeom>
          <a:solidFill>
            <a:srgbClr val="123332"/>
          </a:solidFill>
          <a:ln w="22860">
            <a:solidFill>
              <a:srgbClr val="4A6B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52147" y="3601998"/>
            <a:ext cx="282571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👥</a:t>
            </a:r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Análisis Multi-Usuario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52147" y="4050863"/>
            <a:ext cx="590823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 hogares compartidos, resulta imposible separar y comparar el comportamiento de gasto individual (ej. Mum vs. Bunty).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7724" y="5497711"/>
            <a:ext cx="6372701" cy="1918573"/>
          </a:xfrm>
          <a:prstGeom prst="roundRect">
            <a:avLst>
              <a:gd name="adj" fmla="val 1638"/>
            </a:avLst>
          </a:prstGeom>
          <a:solidFill>
            <a:srgbClr val="123332"/>
          </a:solidFill>
          <a:ln w="22860">
            <a:solidFill>
              <a:srgbClr val="4A6B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0015" y="5730002"/>
            <a:ext cx="3485436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🏷️</a:t>
            </a:r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Transparencia por Categoría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70015" y="6178868"/>
            <a:ext cx="5908119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Categorías de alto coste como fisioterapia, suplementos o servicios quedan sistemáticamente subestimadas sin desglose estructurado.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19856" y="5497711"/>
            <a:ext cx="6372820" cy="1918573"/>
          </a:xfrm>
          <a:prstGeom prst="roundRect">
            <a:avLst>
              <a:gd name="adj" fmla="val 1638"/>
            </a:avLst>
          </a:prstGeom>
          <a:solidFill>
            <a:srgbClr val="123332"/>
          </a:solidFill>
          <a:ln w="22860">
            <a:solidFill>
              <a:srgbClr val="4A6B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52147" y="5730002"/>
            <a:ext cx="3004304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📊</a:t>
            </a:r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Generación de Métricas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652147" y="6178868"/>
            <a:ext cx="5908238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Ausencia de KPIs como gasto mensual total, categoría más cara, coste semanal medio de alimentación o distribución por establecimiento.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04718"/>
            <a:ext cx="11195209" cy="55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Misión del Proyecto: Transparencia Inteligente del Gasto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701993" y="1413510"/>
            <a:ext cx="6519029" cy="4131112"/>
          </a:xfrm>
          <a:prstGeom prst="roundRect">
            <a:avLst>
              <a:gd name="adj" fmla="val 684"/>
            </a:avLst>
          </a:prstGeom>
          <a:solidFill>
            <a:srgbClr val="1D4241"/>
          </a:solidFill>
          <a:ln/>
        </p:spPr>
      </p:sp>
      <p:sp>
        <p:nvSpPr>
          <p:cNvPr id="4" name="Text 2"/>
          <p:cNvSpPr/>
          <p:nvPr/>
        </p:nvSpPr>
        <p:spPr>
          <a:xfrm>
            <a:off x="890468" y="1583055"/>
            <a:ext cx="2217777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Visión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90468" y="2029778"/>
            <a:ext cx="6142077" cy="1432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SmartSpend es un sistema full-stack de inteligencia de gastos que recoge datos estructurados a través de una interfaz web, los almacena en una base de datos relacional normalizada y los expone para análisis avanzado en Power BI — sentando las bases para modelos predictivos con IA.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90468" y="3652957"/>
            <a:ext cx="2610683" cy="357307"/>
          </a:xfrm>
          <a:prstGeom prst="roundRect">
            <a:avLst>
              <a:gd name="adj" fmla="val 6331"/>
            </a:avLst>
          </a:prstGeom>
          <a:noFill/>
          <a:ln w="7620">
            <a:solidFill>
              <a:srgbClr val="EF9C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1079" y="3717012"/>
            <a:ext cx="2369463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FASE ACTUAL: MVP COMPLETADO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552730" y="1583055"/>
            <a:ext cx="2217777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Objetivos del MVP</a:t>
            </a:r>
            <a:endParaRPr lang="en-US" sz="17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3453" y="2056924"/>
            <a:ext cx="282654" cy="28265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65306" y="2051090"/>
            <a:ext cx="5297686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Seguimiento de precios al nivel de artículo individual</a:t>
            </a:r>
            <a:endParaRPr lang="en-US" sz="17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3453" y="2967395"/>
            <a:ext cx="282654" cy="2826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65306" y="2961561"/>
            <a:ext cx="5212318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Separación de gastos por usuario en el mismo hogar</a:t>
            </a:r>
            <a:endParaRPr lang="en-US" sz="1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3453" y="3877866"/>
            <a:ext cx="282654" cy="2826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65306" y="3872032"/>
            <a:ext cx="4792861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Desglose por categoría, marca y establecimiento</a:t>
            </a:r>
            <a:endParaRPr lang="en-US" sz="17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3453" y="4788337"/>
            <a:ext cx="282654" cy="28265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165306" y="4782503"/>
            <a:ext cx="5189220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Pipeline de datos listo para Power BI y para IA futura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991672" y="5829657"/>
            <a:ext cx="2771656" cy="621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850"/>
              </a:lnSpc>
              <a:buNone/>
            </a:pPr>
            <a:r>
              <a:rPr lang="en-US" sz="4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7</a:t>
            </a:r>
            <a:endParaRPr lang="en-US" sz="4850" dirty="0"/>
          </a:p>
        </p:txBody>
      </p:sp>
      <p:sp>
        <p:nvSpPr>
          <p:cNvPr id="18" name="Text 12"/>
          <p:cNvSpPr/>
          <p:nvPr/>
        </p:nvSpPr>
        <p:spPr>
          <a:xfrm>
            <a:off x="1268611" y="6672977"/>
            <a:ext cx="2217777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Tablas relacionales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837724" y="7051834"/>
            <a:ext cx="3079671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Esquema Snowflake totalmente normalizado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4283393" y="5829657"/>
            <a:ext cx="2771656" cy="621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850"/>
              </a:lnSpc>
              <a:buNone/>
            </a:pPr>
            <a:r>
              <a:rPr lang="en-US" sz="4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18</a:t>
            </a:r>
            <a:endParaRPr lang="en-US" sz="4850" dirty="0"/>
          </a:p>
        </p:txBody>
      </p:sp>
      <p:sp>
        <p:nvSpPr>
          <p:cNvPr id="21" name="Text 15"/>
          <p:cNvSpPr/>
          <p:nvPr/>
        </p:nvSpPr>
        <p:spPr>
          <a:xfrm>
            <a:off x="4560332" y="6672977"/>
            <a:ext cx="2217777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Medidas DAX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4129445" y="7051834"/>
            <a:ext cx="3079671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Motor analítico de Power BI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575113" y="5829657"/>
            <a:ext cx="2771656" cy="621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850"/>
              </a:lnSpc>
              <a:buNone/>
            </a:pPr>
            <a:r>
              <a:rPr lang="en-US" sz="4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6</a:t>
            </a:r>
            <a:endParaRPr lang="en-US" sz="4850" dirty="0"/>
          </a:p>
        </p:txBody>
      </p:sp>
      <p:sp>
        <p:nvSpPr>
          <p:cNvPr id="24" name="Text 18"/>
          <p:cNvSpPr/>
          <p:nvPr/>
        </p:nvSpPr>
        <p:spPr>
          <a:xfrm>
            <a:off x="7852053" y="6672977"/>
            <a:ext cx="2217777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Páginas de dashboard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7421166" y="7051834"/>
            <a:ext cx="3079671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Perspectivas analíticas interactivas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10866834" y="5829657"/>
            <a:ext cx="2771775" cy="621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850"/>
              </a:lnSpc>
              <a:buNone/>
            </a:pPr>
            <a:r>
              <a:rPr lang="en-US" sz="4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121+</a:t>
            </a:r>
            <a:endParaRPr lang="en-US" sz="4850" dirty="0"/>
          </a:p>
        </p:txBody>
      </p:sp>
      <p:sp>
        <p:nvSpPr>
          <p:cNvPr id="27" name="Text 21"/>
          <p:cNvSpPr/>
          <p:nvPr/>
        </p:nvSpPr>
        <p:spPr>
          <a:xfrm>
            <a:off x="11129605" y="6672977"/>
            <a:ext cx="2246233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Productos catalogados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10712887" y="7051834"/>
            <a:ext cx="3079790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 categoría y marca normalizadas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14532"/>
            <a:ext cx="10879931" cy="585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El Stack Tecnológico: Cada Herramienta en su Lugar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837724" y="1977747"/>
            <a:ext cx="12954952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Cada tecnología fue seleccionada con criterio técnico para maximizar la integridad de datos, la escalabilidad y la preparación para la analítica avanzada.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810947"/>
            <a:ext cx="639842" cy="6398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13786" y="2810947"/>
            <a:ext cx="2185511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Frontend — React 18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713786" y="3216831"/>
            <a:ext cx="2185511" cy="3171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SPA con layout dividido en pantalla, formulario dinámico de compra multi-artículo y componentes 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react-select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con búsqueda y creación en línea. Gestión de estado limpia con 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hooks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funcionales.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517" y="2810947"/>
            <a:ext cx="639842" cy="639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11579" y="2810947"/>
            <a:ext cx="2185511" cy="585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Backend — FastAPI + Pydantic v2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11579" y="3509367"/>
            <a:ext cx="2185511" cy="3102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Framework Python de alto rendimiento ideal para arquitecturas basadas en API y futura integración con IA. Validación estricta de datos con Pydantic v2 y transacciones atómicas en el router de compras.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3310" y="2810947"/>
            <a:ext cx="639842" cy="6398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09372" y="2810947"/>
            <a:ext cx="2185511" cy="87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Base de datos — MySQL 8 + SQLAlchemy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8309372" y="3801904"/>
            <a:ext cx="2185511" cy="341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Esquema relacional normalizado (Snowflake) con claves foráneas referenciadas, restricciones UNIQUE y modelos ORM que mapean 1:1 con las tablas SQL. Diseñado para consultas analíticas y compatibilidad con Power BI.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1103" y="2810947"/>
            <a:ext cx="639842" cy="6398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607165" y="2810947"/>
            <a:ext cx="2185511" cy="585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Analytics — Power BI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11607165" y="3509367"/>
            <a:ext cx="2185511" cy="341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Herramienta BI estándar de la industria conectada directamente a MySQL. Aprovecha el esquema Snowflake para modelado fact/dimensión, compresión VertiPaq y filtrado dinámico con slicers independientes por categoría y marca.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584359"/>
            <a:ext cx="7136487" cy="462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El Reto de Migración: ETL desde MS Access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37724" y="1282065"/>
            <a:ext cx="12954952" cy="43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Los datos históricos del hogar vivían en una base de datos heredada de Microsoft Access — formato plano, sin normalizar, con codificación Windows cp1252 y formatos europeos de precio y fecha. Migrarlos al nuevo esquema MySQL requirió un pipeline ETL robusto construido en Python.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7093" y="1854160"/>
            <a:ext cx="9716214" cy="37961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53824" y="2219757"/>
            <a:ext cx="2018645" cy="25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Extraer CSV (cp1252)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853824" y="2877694"/>
            <a:ext cx="2582591" cy="25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Transformar: precio y fechas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853824" y="3534886"/>
            <a:ext cx="2327579" cy="25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Cargar en MySQL con FKs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853824" y="4203547"/>
            <a:ext cx="2318046" cy="25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Verificar filas e integridad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37724" y="5782866"/>
            <a:ext cx="12954952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El mayor desafío fue la gestión simultánea de múltiples problemas de calidad de datos: precios europeos (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€ 3,50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→ 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float(3.50)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), fechas en formato 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DD/MM/YYYY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, restricciones de clave foránea durante TRUNCATE masivo y el mapeado de IDs padre-hijo para órdenes e ítems. El resultado: una migración idempotente y reproducible que transforma datos heredados en hechos analíticos limpios.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37724" y="6589990"/>
            <a:ext cx="3150394" cy="1055251"/>
          </a:xfrm>
          <a:prstGeom prst="roundRect">
            <a:avLst>
              <a:gd name="adj" fmla="val 2233"/>
            </a:avLst>
          </a:prstGeom>
          <a:solidFill>
            <a:srgbClr val="315251"/>
          </a:solidFill>
          <a:ln/>
        </p:spPr>
      </p:sp>
      <p:sp>
        <p:nvSpPr>
          <p:cNvPr id="11" name="Text 8"/>
          <p:cNvSpPr/>
          <p:nvPr/>
        </p:nvSpPr>
        <p:spPr>
          <a:xfrm>
            <a:off x="994767" y="6747034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Codificación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94767" y="7048619"/>
            <a:ext cx="2836307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encoding="cp1252"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en pd.read_csv()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05870" y="6589990"/>
            <a:ext cx="3150394" cy="1055251"/>
          </a:xfrm>
          <a:prstGeom prst="roundRect">
            <a:avLst>
              <a:gd name="adj" fmla="val 2233"/>
            </a:avLst>
          </a:prstGeom>
          <a:solidFill>
            <a:srgbClr val="315251"/>
          </a:solidFill>
          <a:ln/>
        </p:spPr>
      </p:sp>
      <p:sp>
        <p:nvSpPr>
          <p:cNvPr id="14" name="Text 11"/>
          <p:cNvSpPr/>
          <p:nvPr/>
        </p:nvSpPr>
        <p:spPr>
          <a:xfrm>
            <a:off x="4262914" y="6747034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Decimales EU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262914" y="7048619"/>
            <a:ext cx="2836307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Strip €, reemplazar 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por 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, cast a float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74017" y="6589990"/>
            <a:ext cx="3150394" cy="1055251"/>
          </a:xfrm>
          <a:prstGeom prst="roundRect">
            <a:avLst>
              <a:gd name="adj" fmla="val 2233"/>
            </a:avLst>
          </a:prstGeom>
          <a:solidFill>
            <a:srgbClr val="315251"/>
          </a:solidFill>
          <a:ln/>
        </p:spPr>
      </p:sp>
      <p:sp>
        <p:nvSpPr>
          <p:cNvPr id="17" name="Text 14"/>
          <p:cNvSpPr/>
          <p:nvPr/>
        </p:nvSpPr>
        <p:spPr>
          <a:xfrm>
            <a:off x="7531060" y="6747034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Fechas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531060" y="7048619"/>
            <a:ext cx="2836307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dayfirst=True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con pd.to_datetime()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0642163" y="6589990"/>
            <a:ext cx="3150513" cy="1055251"/>
          </a:xfrm>
          <a:prstGeom prst="roundRect">
            <a:avLst>
              <a:gd name="adj" fmla="val 2233"/>
            </a:avLst>
          </a:prstGeom>
          <a:solidFill>
            <a:srgbClr val="315251"/>
          </a:solidFill>
          <a:ln/>
        </p:spPr>
      </p:sp>
      <p:sp>
        <p:nvSpPr>
          <p:cNvPr id="20" name="Text 17"/>
          <p:cNvSpPr/>
          <p:nvPr/>
        </p:nvSpPr>
        <p:spPr>
          <a:xfrm>
            <a:off x="10799207" y="6747034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Integridad FK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0799207" y="7048619"/>
            <a:ext cx="2836426" cy="43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SET FOREIGN_KEY_CHECKS = 0/1 en bulk inserts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1652" y="581382"/>
            <a:ext cx="11267718" cy="519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Excelencia en Backend: Transacciones Atómicas y Validación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831652" y="1473875"/>
            <a:ext cx="2885003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Lógica de Transacción Atómica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1652" y="1882735"/>
            <a:ext cx="6268045" cy="134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El router de compras implementa la lógica de negocio más compleja del sistema. Tanto POST como PUT siguen el mismo patrón atómico: validar claves foráneas, crear/actualizar la cabecera, hacer 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flush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para asegurar el ID, procesar cada línea de artículo, calcular subtotales y hacer 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atómico. Cualquier fallo activa 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db.rollback()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completo.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31652" y="3398639"/>
            <a:ext cx="6268045" cy="1197292"/>
          </a:xfrm>
          <a:prstGeom prst="roundRect">
            <a:avLst>
              <a:gd name="adj" fmla="val 2214"/>
            </a:avLst>
          </a:prstGeom>
          <a:solidFill>
            <a:srgbClr val="44170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340" y="3647718"/>
            <a:ext cx="220861" cy="17668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05890" y="3591878"/>
            <a:ext cx="5517118" cy="78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estrategia «borrar y reinsertar» en PUT garantiza consistencia total: no quedan líneas huérfanas, el contrato con el frontend es simple y se evita lógica de merge compleja.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411164" y="1324808"/>
            <a:ext cx="6522363" cy="3438763"/>
          </a:xfrm>
          <a:prstGeom prst="roundRect">
            <a:avLst>
              <a:gd name="adj" fmla="val 771"/>
            </a:avLst>
          </a:prstGeom>
          <a:solidFill>
            <a:srgbClr val="EF9C82"/>
          </a:solidFill>
          <a:ln/>
        </p:spPr>
      </p:sp>
      <p:sp>
        <p:nvSpPr>
          <p:cNvPr id="9" name="Text 6"/>
          <p:cNvSpPr/>
          <p:nvPr/>
        </p:nvSpPr>
        <p:spPr>
          <a:xfrm>
            <a:off x="7587853" y="1473875"/>
            <a:ext cx="289464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Pydantic v2 — Contratos de API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87853" y="1882735"/>
            <a:ext cx="6168985" cy="1765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EntityCreate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Enforce campos requeridos y coerción de tipos en POST</a:t>
            </a:r>
            <a:endParaRPr lang="en-US" sz="135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EntityUpdate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Todos los campos opcionales con 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000000"/>
                </a:solidFill>
                <a:highlight>
                  <a:srgbClr val="E28F7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exclude_unset=True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para actualizaciones parciales en PUT</a:t>
            </a:r>
            <a:endParaRPr lang="en-US" sz="135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EntityResponse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Serialización ORM→JSON con 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000000"/>
                </a:solidFill>
                <a:highlight>
                  <a:srgbClr val="E28F7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from_attributes=True</a:t>
            </a:r>
            <a:endParaRPr lang="en-US" sz="135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PurchaseCreate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Lista anidada de 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000000"/>
                </a:solidFill>
                <a:highlight>
                  <a:srgbClr val="E28F7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PurchaseItemCreate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un recibo completo en una sola petición HTTP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31652" y="4931212"/>
            <a:ext cx="176689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01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31652" y="5208627"/>
            <a:ext cx="4222909" cy="2286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3" name="Text 10"/>
          <p:cNvSpPr/>
          <p:nvPr/>
        </p:nvSpPr>
        <p:spPr>
          <a:xfrm>
            <a:off x="831652" y="5342692"/>
            <a:ext cx="2079069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VALIDAR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1652" y="5691902"/>
            <a:ext cx="4222909" cy="52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Confirmar existencia de user_id y shop_id. HTTP 404 si no existen.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203627" y="4931212"/>
            <a:ext cx="176689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02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203627" y="5208627"/>
            <a:ext cx="4223028" cy="2286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7" name="Text 14"/>
          <p:cNvSpPr/>
          <p:nvPr/>
        </p:nvSpPr>
        <p:spPr>
          <a:xfrm>
            <a:off x="5203627" y="5342692"/>
            <a:ext cx="2079069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CABECERA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203627" y="5691902"/>
            <a:ext cx="4223028" cy="52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Crear/actualizar Purchase. db.flush() para asegurar el ID.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9575721" y="4931212"/>
            <a:ext cx="176689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03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9575721" y="5208627"/>
            <a:ext cx="4223028" cy="2286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21" name="Text 18"/>
          <p:cNvSpPr/>
          <p:nvPr/>
        </p:nvSpPr>
        <p:spPr>
          <a:xfrm>
            <a:off x="9575721" y="5342692"/>
            <a:ext cx="2079069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ÍTEMS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575721" y="5691902"/>
            <a:ext cx="4223028" cy="52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Validar product_id, calcular subtotal = cantidad × precio, insertar PurchaseItem.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831652" y="6494502"/>
            <a:ext cx="176689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04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31652" y="6771918"/>
            <a:ext cx="6409015" cy="2286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25" name="Text 22"/>
          <p:cNvSpPr/>
          <p:nvPr/>
        </p:nvSpPr>
        <p:spPr>
          <a:xfrm>
            <a:off x="831652" y="6905982"/>
            <a:ext cx="2079069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TOTAL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31652" y="7255193"/>
            <a:ext cx="6409015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Sumar subtotales → purchase.total_amount.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389733" y="6494502"/>
            <a:ext cx="176689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05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7389733" y="6771918"/>
            <a:ext cx="6409015" cy="2286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29" name="Text 26"/>
          <p:cNvSpPr/>
          <p:nvPr/>
        </p:nvSpPr>
        <p:spPr>
          <a:xfrm>
            <a:off x="7389733" y="6905982"/>
            <a:ext cx="2079069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COMMIT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389733" y="7255193"/>
            <a:ext cx="6409015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db.commit() atómico. Cualquier error → db.rollback() + HTTPException.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92361"/>
            <a:ext cx="10016252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Frontend UX: Dashboard en Pantalla Dividida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1827133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interfaz React implementa un diseño responsive de pantalla dividida: el formulario de transacción fijo a la izquierda y el gestor de dashboard dinámico a la derecha — ambos con scroll vertical independiente en pantallas ≥ 1024px.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6872" y="2732842"/>
            <a:ext cx="6523673" cy="4704398"/>
          </a:xfrm>
          <a:prstGeom prst="roundRect">
            <a:avLst>
              <a:gd name="adj" fmla="val 668"/>
            </a:avLst>
          </a:prstGeom>
          <a:solidFill>
            <a:srgbClr val="1D4241"/>
          </a:solidFill>
          <a:ln/>
        </p:spPr>
      </p:sp>
      <p:sp>
        <p:nvSpPr>
          <p:cNvPr id="5" name="Text 3"/>
          <p:cNvSpPr/>
          <p:nvPr/>
        </p:nvSpPr>
        <p:spPr>
          <a:xfrm>
            <a:off x="896302" y="2942273"/>
            <a:ext cx="3941802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Panel Izquierdo — TransactionForm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96302" y="3459718"/>
            <a:ext cx="6104811" cy="3450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Selector de usuario, establecimiento y fecha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Filas de artículos dinámicas con subtotal calculado en tiempo real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Dropdowns 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highlight>
                  <a:srgbClr val="2A4F4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CreatableSelect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búsqueda entre 121+ productos con creación en línea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Creación de categorías al vuelo vía endpoint get-or-create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Formato EUR consistente con 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highlight>
                  <a:srgbClr val="2A4F4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Intl.NumberFormat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Modo doble: creación (POST) y edición (PUT) según presencia de 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highlight>
                  <a:srgbClr val="2A4F4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editingTransaction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78328" y="2942273"/>
            <a:ext cx="5588794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Panel Derecho — DashboardManager (Grid Center)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78328" y="3459718"/>
            <a:ext cx="6221968" cy="2595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👥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Users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CRUD completo con formulario inline y confirmación de borrado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🏪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Shops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Gestión de tiendas con nombre único forzado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💳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Transactions — Historial completo con detalle por artículo; edición activa TransactionForm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📦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Edit Products — Sub-grid con Productos, Categorías y Marcas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78328" y="6243638"/>
            <a:ext cx="6221968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Cada panel sigue un patrón uniforme: DataCard (grid clicable), PanelHeader con navegación y formularios inline para CRUD sin salir de la vista.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99755"/>
            <a:ext cx="8596432" cy="52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Arquitectura de Datos: El Esquema Snowflake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837724" y="1725930"/>
            <a:ext cx="12954952" cy="52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base de datos MySQL implementa un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esquema Snowflake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extensión del Star Schema donde las dimensiones están completamente normalizadas en sub-dimensiones. Sirve simultáneamente a la carga OLTP del backend FastAPI y a la analítica OLAP de Power BI.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37724" y="2574131"/>
            <a:ext cx="2267545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Tablas de Hechos (Facts)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37724" y="3005971"/>
            <a:ext cx="3054429" cy="1868210"/>
          </a:xfrm>
          <a:prstGeom prst="roundRect">
            <a:avLst>
              <a:gd name="adj" fmla="val 5873"/>
            </a:avLst>
          </a:prstGeom>
          <a:solidFill>
            <a:srgbClr val="123332"/>
          </a:solidFill>
          <a:ln w="22860">
            <a:solidFill>
              <a:srgbClr val="4A6B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4864" y="3005971"/>
            <a:ext cx="91440" cy="1868210"/>
          </a:xfrm>
          <a:prstGeom prst="roundRect">
            <a:avLst>
              <a:gd name="adj" fmla="val 29206"/>
            </a:avLst>
          </a:prstGeom>
          <a:solidFill>
            <a:srgbClr val="EF9C82"/>
          </a:solidFill>
          <a:ln/>
        </p:spPr>
      </p:sp>
      <p:sp>
        <p:nvSpPr>
          <p:cNvPr id="7" name="Text 5"/>
          <p:cNvSpPr/>
          <p:nvPr/>
        </p:nvSpPr>
        <p:spPr>
          <a:xfrm>
            <a:off x="1107162" y="3206829"/>
            <a:ext cx="2094548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purchases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07162" y="3619857"/>
            <a:ext cx="258413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Cabecera de recibo: user_id FK, shop_id FK, fecha, descuento, coste de envío, total_amount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43482" y="3005971"/>
            <a:ext cx="3054548" cy="1868210"/>
          </a:xfrm>
          <a:prstGeom prst="roundRect">
            <a:avLst>
              <a:gd name="adj" fmla="val 5873"/>
            </a:avLst>
          </a:prstGeom>
          <a:solidFill>
            <a:srgbClr val="123332"/>
          </a:solidFill>
          <a:ln w="22860">
            <a:solidFill>
              <a:srgbClr val="4A6B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0622" y="3005971"/>
            <a:ext cx="91440" cy="1868210"/>
          </a:xfrm>
          <a:prstGeom prst="roundRect">
            <a:avLst>
              <a:gd name="adj" fmla="val 29206"/>
            </a:avLst>
          </a:prstGeom>
          <a:solidFill>
            <a:srgbClr val="EF9C82"/>
          </a:solidFill>
          <a:ln/>
        </p:spPr>
      </p:sp>
      <p:sp>
        <p:nvSpPr>
          <p:cNvPr id="11" name="Text 9"/>
          <p:cNvSpPr/>
          <p:nvPr/>
        </p:nvSpPr>
        <p:spPr>
          <a:xfrm>
            <a:off x="4312920" y="3206829"/>
            <a:ext cx="2094548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purchase_items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12920" y="3619857"/>
            <a:ext cx="2584252" cy="1053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Línea de artículo: product_id FK, cantidad, precio unitario, subtotal — granularidad máxima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7724" y="5044321"/>
            <a:ext cx="3070265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Justificación de la normalización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7724" y="5457349"/>
            <a:ext cx="6260306" cy="1738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Elimina redundancia: strings de categoría/marca almacenados una sola vez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Integridad referencial via FKs con restricciones UNIQUE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Tablas de dimensión pequeñas = mejor compresión VertiPaq en Power BI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Slicers independientes por categoría y marca sin parsear atributos de producto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11760" y="2422803"/>
            <a:ext cx="6516767" cy="4907042"/>
          </a:xfrm>
          <a:prstGeom prst="roundRect">
            <a:avLst>
              <a:gd name="adj" fmla="val 544"/>
            </a:avLst>
          </a:prstGeom>
          <a:solidFill>
            <a:srgbClr val="EF9C82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758" y="2574131"/>
            <a:ext cx="2165747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Tablas de Dimensiones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89758" y="3005971"/>
            <a:ext cx="6160770" cy="3565684"/>
          </a:xfrm>
          <a:prstGeom prst="roundRect">
            <a:avLst>
              <a:gd name="adj" fmla="val 74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97378" y="3013591"/>
            <a:ext cx="6145530" cy="46005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775496" y="3111937"/>
            <a:ext cx="2405658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Tabla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44770" y="3111937"/>
            <a:ext cx="3020139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Rol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597378" y="3473648"/>
            <a:ext cx="6145530" cy="46005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775496" y="3571994"/>
            <a:ext cx="2405658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44770" y="3571994"/>
            <a:ext cx="3020139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Miembros del hogar (email UNIQUE)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597378" y="3933706"/>
            <a:ext cx="6145530" cy="7234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775496" y="4032052"/>
            <a:ext cx="2405658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shops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44770" y="4032052"/>
            <a:ext cx="3020139" cy="52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Establecimientos / vendedores (name UNIQUE)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597378" y="4657130"/>
            <a:ext cx="6145530" cy="72342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775496" y="4755475"/>
            <a:ext cx="2405658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products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44770" y="4755475"/>
            <a:ext cx="3020139" cy="52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Catálogo con category_id FK y brand_id FK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597378" y="5380553"/>
            <a:ext cx="6145530" cy="46005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775496" y="5478899"/>
            <a:ext cx="2405658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categories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544770" y="5478899"/>
            <a:ext cx="3020139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Clasificación jerárquica de productos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597378" y="5840611"/>
            <a:ext cx="6145530" cy="72342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775496" y="5938957"/>
            <a:ext cx="2405658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brands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544770" y="5938957"/>
            <a:ext cx="3020139" cy="52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Sub-dimensión de marcas comerciales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589758" y="6741795"/>
            <a:ext cx="6160770" cy="451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Cadena de relaciones: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E28F7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users ──&lt; purchases ──&lt; purchase_items &gt;── products &gt;── categories &gt;── brands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/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E28F7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shops ──&lt; purchases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66493"/>
            <a:ext cx="1976557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ESQUEMA DE BASE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37724" y="1791057"/>
            <a:ext cx="8143637" cy="52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Arquitectura de Datos: Esquema Snowflake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837724" y="2881789"/>
            <a:ext cx="8938141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i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Diagrama Entidad-Relación — Arquitectura Snowflake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17825" y="2692837"/>
            <a:ext cx="2094548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Tablas de Hechos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17825" y="3105864"/>
            <a:ext cx="3582353" cy="1106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Compras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Transacciones maestras — fecha, usuario, tienda, importe total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Artículos de Compra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Detalle línea — producto, cantidad, precio, subtotal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17825" y="4363522"/>
            <a:ext cx="2165747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Tablas de Dimensiones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17825" y="4776549"/>
            <a:ext cx="3582353" cy="842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Usuarios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·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Tiendas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·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Marcas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·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Categorías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Normalización completa elimina redundancia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17825" y="5770840"/>
            <a:ext cx="2094548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Integridad de Datos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17825" y="6183868"/>
            <a:ext cx="3582353" cy="579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FK estrictas con integridad referencial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Restricciones UNIQUE y reglas CASCADE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57012"/>
            <a:ext cx="8504277" cy="462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Capa de Inteligencia: Power BI y 18 Medidas DAX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37724" y="1554718"/>
            <a:ext cx="12954952" cy="43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El dashboard de Power BI transforma datos transaccionales en métricas financieras accionables a través de 18 medidas DAX explícitas organizadas en seis categorías funcionales — conectado directamente a MySQL aprovechando el esquema Snowflake.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37724" y="2126813"/>
            <a:ext cx="6418540" cy="1062871"/>
          </a:xfrm>
          <a:prstGeom prst="roundRect">
            <a:avLst>
              <a:gd name="adj" fmla="val 2217"/>
            </a:avLst>
          </a:prstGeom>
          <a:solidFill>
            <a:srgbClr val="315251"/>
          </a:solidFill>
          <a:ln/>
        </p:spPr>
      </p:sp>
      <p:sp>
        <p:nvSpPr>
          <p:cNvPr id="5" name="Text 3"/>
          <p:cNvSpPr/>
          <p:nvPr/>
        </p:nvSpPr>
        <p:spPr>
          <a:xfrm>
            <a:off x="994767" y="2283857"/>
            <a:ext cx="184808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🏠</a:t>
            </a:r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Vista Ejecutiva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94767" y="2593062"/>
            <a:ext cx="6104453" cy="43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Gasto total en el tiempo, desglose por categoría y top de establecimientos. Responde: ¿cómo evoluciona mi flujo financiero global?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74017" y="2126813"/>
            <a:ext cx="6418659" cy="1062871"/>
          </a:xfrm>
          <a:prstGeom prst="roundRect">
            <a:avLst>
              <a:gd name="adj" fmla="val 2217"/>
            </a:avLst>
          </a:prstGeom>
          <a:solidFill>
            <a:srgbClr val="315251"/>
          </a:solidFill>
          <a:ln/>
        </p:spPr>
      </p:sp>
      <p:sp>
        <p:nvSpPr>
          <p:cNvPr id="8" name="Text 6"/>
          <p:cNvSpPr/>
          <p:nvPr/>
        </p:nvSpPr>
        <p:spPr>
          <a:xfrm>
            <a:off x="7531060" y="2283857"/>
            <a:ext cx="2165509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🛒</a:t>
            </a:r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Categorías y Productos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531060" y="2593062"/>
            <a:ext cx="6104573" cy="43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Drill-down desde macrocategorías (Alimentación) hasta costes por artículo específico con granularidad de línea.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7724" y="3307437"/>
            <a:ext cx="6418540" cy="1062871"/>
          </a:xfrm>
          <a:prstGeom prst="roundRect">
            <a:avLst>
              <a:gd name="adj" fmla="val 2217"/>
            </a:avLst>
          </a:prstGeom>
          <a:solidFill>
            <a:srgbClr val="315251"/>
          </a:solidFill>
          <a:ln/>
        </p:spPr>
      </p:sp>
      <p:sp>
        <p:nvSpPr>
          <p:cNvPr id="11" name="Text 9"/>
          <p:cNvSpPr/>
          <p:nvPr/>
        </p:nvSpPr>
        <p:spPr>
          <a:xfrm>
            <a:off x="994767" y="3464481"/>
            <a:ext cx="2279690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🏪</a:t>
            </a:r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Comparativa de Tiendas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94767" y="3773686"/>
            <a:ext cx="6104453" cy="43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Herramienta de seguimiento de precios: historial exacto de fechas, cantidades y precios para detectar cuándo un supermercado modifica sus tarifas.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74017" y="3307437"/>
            <a:ext cx="6418659" cy="1062871"/>
          </a:xfrm>
          <a:prstGeom prst="roundRect">
            <a:avLst>
              <a:gd name="adj" fmla="val 2217"/>
            </a:avLst>
          </a:prstGeom>
          <a:solidFill>
            <a:srgbClr val="315251"/>
          </a:solidFill>
          <a:ln/>
        </p:spPr>
      </p:sp>
      <p:sp>
        <p:nvSpPr>
          <p:cNvPr id="14" name="Text 12"/>
          <p:cNvSpPr/>
          <p:nvPr/>
        </p:nvSpPr>
        <p:spPr>
          <a:xfrm>
            <a:off x="7531060" y="3464481"/>
            <a:ext cx="1934647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👥</a:t>
            </a:r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Análisis por Usuario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531060" y="3773686"/>
            <a:ext cx="6104573" cy="43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Huella financiera individual. Arquitectura escalable lista para separación de costes multi-usuario en el futuro.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7724" y="4488061"/>
            <a:ext cx="6418540" cy="1062871"/>
          </a:xfrm>
          <a:prstGeom prst="roundRect">
            <a:avLst>
              <a:gd name="adj" fmla="val 2217"/>
            </a:avLst>
          </a:prstGeom>
          <a:solidFill>
            <a:srgbClr val="315251"/>
          </a:solidFill>
          <a:ln/>
        </p:spPr>
      </p:sp>
      <p:sp>
        <p:nvSpPr>
          <p:cNvPr id="17" name="Text 15"/>
          <p:cNvSpPr/>
          <p:nvPr/>
        </p:nvSpPr>
        <p:spPr>
          <a:xfrm>
            <a:off x="994767" y="4645104"/>
            <a:ext cx="2082879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📈</a:t>
            </a:r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Inteligencia Temporal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94767" y="4954310"/>
            <a:ext cx="6104453" cy="43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MoM Change %, Rolling 3M Avg, YTD Spend y gráfico Waterfall de varianza mensual positiva/negativa.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74017" y="4488061"/>
            <a:ext cx="6418659" cy="1062871"/>
          </a:xfrm>
          <a:prstGeom prst="roundRect">
            <a:avLst>
              <a:gd name="adj" fmla="val 2217"/>
            </a:avLst>
          </a:prstGeom>
          <a:solidFill>
            <a:srgbClr val="315251"/>
          </a:solidFill>
          <a:ln/>
        </p:spPr>
      </p:sp>
      <p:sp>
        <p:nvSpPr>
          <p:cNvPr id="20" name="Text 18"/>
          <p:cNvSpPr/>
          <p:nvPr/>
        </p:nvSpPr>
        <p:spPr>
          <a:xfrm>
            <a:off x="7531060" y="4645104"/>
            <a:ext cx="1939052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🩺</a:t>
            </a:r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Rastreador de Salud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531060" y="4954310"/>
            <a:ext cx="6104573" cy="43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Página aislada para bienestar físico y mental: inversión en salud YTD, contador de sesiones clínicas y registro cronológico completo.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7724" y="5801201"/>
            <a:ext cx="28767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Medidas de Inteligencia de Precios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7724" y="6149935"/>
            <a:ext cx="6285905" cy="1181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Weighted Avg Unit Price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DIVIDE(SUM(subtotal), SUM(quantity)) — coste medio real</a:t>
            </a:r>
            <a:endParaRPr lang="en-US" sz="120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Cheapest Shop for Product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motor de texto dinámico con TOPN para identificar el comercio más barato</a:t>
            </a:r>
            <a:endParaRPr lang="en-US" sz="120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Price Difference %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gap de inflación entre el establecimiento más caro y el más barato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01282" y="5683448"/>
            <a:ext cx="6512123" cy="1689021"/>
          </a:xfrm>
          <a:prstGeom prst="roundRect">
            <a:avLst>
              <a:gd name="adj" fmla="val 1395"/>
            </a:avLst>
          </a:prstGeom>
          <a:solidFill>
            <a:srgbClr val="1D4241"/>
          </a:solidFill>
          <a:ln/>
        </p:spPr>
      </p:sp>
      <p:sp>
        <p:nvSpPr>
          <p:cNvPr id="25" name="Text 23"/>
          <p:cNvSpPr/>
          <p:nvPr/>
        </p:nvSpPr>
        <p:spPr>
          <a:xfrm>
            <a:off x="7558326" y="5801201"/>
            <a:ext cx="261556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Formato Condicional Dinámico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58326" y="6149935"/>
            <a:ext cx="6198037" cy="74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MoM Color (HEX)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rojo/verde según tendencia de gasto</a:t>
            </a:r>
            <a:endParaRPr lang="en-US" sz="120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Trend Arrow (Unicode)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indicador visual ↑↓ automático</a:t>
            </a:r>
            <a:endParaRPr lang="en-US" sz="120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Dynamic Title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etiquetas contextuales adaptadas al filtro activo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044297"/>
            <a:ext cx="1114782" cy="262533"/>
          </a:xfrm>
          <a:prstGeom prst="roundRect">
            <a:avLst>
              <a:gd name="adj" fmla="val 6702"/>
            </a:avLst>
          </a:prstGeom>
          <a:noFill/>
          <a:ln w="7620">
            <a:solidFill>
              <a:srgbClr val="EF9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3212" y="1095851"/>
            <a:ext cx="923806" cy="159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ANEXO TÉCNICO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7724" y="1347788"/>
            <a:ext cx="9660374" cy="43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7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Vista del Modelo en Power BI: Esquema Snowflake en VertiPaq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7724" y="1932980"/>
            <a:ext cx="12954952" cy="398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Esta vista representa la implementación real del esquema Snowflake dentro del motor VertiPaq de Power BI. El modelo conecta directamente a MySQL y replica la arquitectura normalizada, permitiendo slicing &amp; dicing multidimensional con máxima eficiencia de compresión columnar.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562344"/>
            <a:ext cx="5806797" cy="3813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7724" y="6490930"/>
            <a:ext cx="8295442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i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Power BI Model View — Relaciones VertiPaq sobre esquema Snowflake normalizado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498449" y="2549604"/>
            <a:ext cx="2159079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Relaciones 1:* (Uno a Varios)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498449" y="2867858"/>
            <a:ext cx="4301728" cy="1267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Cada relación sigue el patrón dimensional: la tabla de dimensión (lado 1) filtra la tabla de hechos (lado *)</a:t>
            </a:r>
            <a:endParaRPr lang="en-US" sz="11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Garantiza integridad referencial durante el filtrado dinámico cruzado</a:t>
            </a:r>
            <a:endParaRPr lang="en-US" sz="11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Propagación de filtros unidireccional desde dimensiones hacia hechos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498449" y="4238030"/>
            <a:ext cx="1724858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Tablas del Modelo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498449" y="4556284"/>
            <a:ext cx="4301728" cy="1104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Fact Tables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purchases, purchase_items — grano transaccional</a:t>
            </a:r>
            <a:endParaRPr lang="en-US" sz="11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Dimensions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users, shops, brands, categories, products</a:t>
            </a:r>
            <a:endParaRPr lang="en-US" sz="11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DateTable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tabla de calendario generada para inteligencia temporal (Year, Month, YearMonth)</a:t>
            </a:r>
            <a:endParaRPr lang="en-US" sz="11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Measures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tabla dedicada con 23 medidas DAX organizadas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498449" y="5762982"/>
            <a:ext cx="1741170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Optimización VertiPaq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498449" y="6081236"/>
            <a:ext cx="4301728" cy="1068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Compresión columnar optimizada por la normalización completa</a:t>
            </a:r>
            <a:endParaRPr lang="en-US" sz="11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Cardinalidad reducida en dimensiones mejora el rendimiento de consultas</a:t>
            </a:r>
            <a:endParaRPr lang="en-US" sz="11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Arquitectura lista para escalar sin degradación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78907"/>
            <a:ext cx="5568791" cy="462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IA, Demo y Lecciones Aprendidas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37724" y="1535430"/>
            <a:ext cx="369510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🤖</a:t>
            </a:r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Componente IA y Hoja de Ruta Predictiva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37724" y="1891784"/>
            <a:ext cx="6285905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SmartSpend está arquitectónicamente listo para la transición de analítica descriptiva a </a:t>
            </a:r>
            <a:pPr algn="l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modelos predictivos de gasto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. Python como lenguaje base del backend facilita esta evolución sin cambios de arquitectura.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969187" y="2683669"/>
            <a:ext cx="22860" cy="3720941"/>
          </a:xfrm>
          <a:prstGeom prst="roundRect">
            <a:avLst>
              <a:gd name="adj" fmla="val 103080"/>
            </a:avLst>
          </a:prstGeom>
          <a:solidFill>
            <a:srgbClr val="4A6B6A"/>
          </a:solidFill>
          <a:ln/>
        </p:spPr>
      </p:sp>
      <p:sp>
        <p:nvSpPr>
          <p:cNvPr id="6" name="Shape 4"/>
          <p:cNvSpPr/>
          <p:nvPr/>
        </p:nvSpPr>
        <p:spPr>
          <a:xfrm>
            <a:off x="3689390" y="2848928"/>
            <a:ext cx="314087" cy="22860"/>
          </a:xfrm>
          <a:prstGeom prst="roundRect">
            <a:avLst>
              <a:gd name="adj" fmla="val 103080"/>
            </a:avLst>
          </a:prstGeom>
          <a:solidFill>
            <a:srgbClr val="4A6B6A"/>
          </a:solidFill>
          <a:ln/>
        </p:spPr>
      </p:sp>
      <p:sp>
        <p:nvSpPr>
          <p:cNvPr id="7" name="Shape 5"/>
          <p:cNvSpPr/>
          <p:nvPr/>
        </p:nvSpPr>
        <p:spPr>
          <a:xfrm>
            <a:off x="3921740" y="2801481"/>
            <a:ext cx="117753" cy="117753"/>
          </a:xfrm>
          <a:prstGeom prst="roundRect">
            <a:avLst>
              <a:gd name="adj" fmla="val 388270"/>
            </a:avLst>
          </a:prstGeom>
          <a:solidFill>
            <a:srgbClr val="EF9C82"/>
          </a:solidFill>
          <a:ln/>
        </p:spPr>
      </p:sp>
      <p:sp>
        <p:nvSpPr>
          <p:cNvPr id="8" name="Text 6"/>
          <p:cNvSpPr/>
          <p:nvPr/>
        </p:nvSpPr>
        <p:spPr>
          <a:xfrm>
            <a:off x="837724" y="2737604"/>
            <a:ext cx="2514600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Fase Actual — Analítica Descriptiva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37724" y="3317319"/>
            <a:ext cx="2514600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23 medidas DAX para KPIs históricos, comparativas y seguimiento de inflación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57757" y="3712845"/>
            <a:ext cx="314087" cy="22860"/>
          </a:xfrm>
          <a:prstGeom prst="roundRect">
            <a:avLst>
              <a:gd name="adj" fmla="val 103080"/>
            </a:avLst>
          </a:prstGeom>
          <a:solidFill>
            <a:srgbClr val="4A6B6A"/>
          </a:solidFill>
          <a:ln/>
        </p:spPr>
      </p:sp>
      <p:sp>
        <p:nvSpPr>
          <p:cNvPr id="11" name="Shape 9"/>
          <p:cNvSpPr/>
          <p:nvPr/>
        </p:nvSpPr>
        <p:spPr>
          <a:xfrm>
            <a:off x="3921740" y="3665399"/>
            <a:ext cx="117753" cy="117753"/>
          </a:xfrm>
          <a:prstGeom prst="roundRect">
            <a:avLst>
              <a:gd name="adj" fmla="val 388270"/>
            </a:avLst>
          </a:prstGeom>
          <a:solidFill>
            <a:srgbClr val="EF9C82"/>
          </a:solidFill>
          <a:ln/>
        </p:spPr>
      </p:sp>
      <p:sp>
        <p:nvSpPr>
          <p:cNvPr id="12" name="Text 10"/>
          <p:cNvSpPr/>
          <p:nvPr/>
        </p:nvSpPr>
        <p:spPr>
          <a:xfrm>
            <a:off x="4608909" y="3601522"/>
            <a:ext cx="2285643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Próxima Fase — Forecasting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08909" y="3950256"/>
            <a:ext cx="2514719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Series temporales con Prophet / Scikit-learn para pronósticos de gasto por categoría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89390" y="4485918"/>
            <a:ext cx="314087" cy="22860"/>
          </a:xfrm>
          <a:prstGeom prst="roundRect">
            <a:avLst>
              <a:gd name="adj" fmla="val 103080"/>
            </a:avLst>
          </a:prstGeom>
          <a:solidFill>
            <a:srgbClr val="4A6B6A"/>
          </a:solidFill>
          <a:ln/>
        </p:spPr>
      </p:sp>
      <p:sp>
        <p:nvSpPr>
          <p:cNvPr id="15" name="Shape 13"/>
          <p:cNvSpPr/>
          <p:nvPr/>
        </p:nvSpPr>
        <p:spPr>
          <a:xfrm>
            <a:off x="3921740" y="4438471"/>
            <a:ext cx="117753" cy="117753"/>
          </a:xfrm>
          <a:prstGeom prst="roundRect">
            <a:avLst>
              <a:gd name="adj" fmla="val 388270"/>
            </a:avLst>
          </a:prstGeom>
          <a:solidFill>
            <a:srgbClr val="EF9C82"/>
          </a:solidFill>
          <a:ln/>
        </p:spPr>
      </p:sp>
      <p:sp>
        <p:nvSpPr>
          <p:cNvPr id="16" name="Text 14"/>
          <p:cNvSpPr/>
          <p:nvPr/>
        </p:nvSpPr>
        <p:spPr>
          <a:xfrm>
            <a:off x="837724" y="4374594"/>
            <a:ext cx="2514600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Fase Futura — Detección de Anomalías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7724" y="4954310"/>
            <a:ext cx="2514600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Modelos ML para identificar patrones de gasto inusuales y alertas automáticas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57757" y="5259110"/>
            <a:ext cx="314087" cy="22860"/>
          </a:xfrm>
          <a:prstGeom prst="roundRect">
            <a:avLst>
              <a:gd name="adj" fmla="val 103080"/>
            </a:avLst>
          </a:prstGeom>
          <a:solidFill>
            <a:srgbClr val="4A6B6A"/>
          </a:solidFill>
          <a:ln/>
        </p:spPr>
      </p:sp>
      <p:sp>
        <p:nvSpPr>
          <p:cNvPr id="19" name="Shape 17"/>
          <p:cNvSpPr/>
          <p:nvPr/>
        </p:nvSpPr>
        <p:spPr>
          <a:xfrm>
            <a:off x="3921740" y="5211663"/>
            <a:ext cx="117753" cy="117753"/>
          </a:xfrm>
          <a:prstGeom prst="roundRect">
            <a:avLst>
              <a:gd name="adj" fmla="val 388270"/>
            </a:avLst>
          </a:prstGeom>
          <a:solidFill>
            <a:srgbClr val="EF9C82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909" y="5147786"/>
            <a:ext cx="251471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Visión a Largo Plazo — OCR + Ingesta Automática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608909" y="5727502"/>
            <a:ext cx="2514719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Captura de tickets mediante reconocimiento óptico, eliminando la entrada manual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01282" y="1417677"/>
            <a:ext cx="6512123" cy="5119449"/>
          </a:xfrm>
          <a:prstGeom prst="roundRect">
            <a:avLst>
              <a:gd name="adj" fmla="val 460"/>
            </a:avLst>
          </a:prstGeom>
          <a:solidFill>
            <a:srgbClr val="EF9C82"/>
          </a:solidFill>
          <a:ln/>
        </p:spPr>
      </p:sp>
      <p:sp>
        <p:nvSpPr>
          <p:cNvPr id="23" name="Text 21"/>
          <p:cNvSpPr/>
          <p:nvPr/>
        </p:nvSpPr>
        <p:spPr>
          <a:xfrm>
            <a:off x="7558326" y="1535430"/>
            <a:ext cx="184808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🎬</a:t>
            </a:r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Demo en Vivo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558326" y="1891784"/>
            <a:ext cx="6198037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Espacio reservado para demostración en vivo o vídeo walk-through de la aplicación.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58326" y="2217539"/>
            <a:ext cx="6198037" cy="1002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Registro de una compra multi-artículo desde el formulario React</a:t>
            </a:r>
            <a:endParaRPr lang="en-US" sz="120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Edición atómica con actualización en tiempo real del total</a:t>
            </a:r>
            <a:endParaRPr lang="en-US" sz="120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Navegación por el Grid Center y gestión de entidades</a:t>
            </a:r>
            <a:endParaRPr lang="en-US" sz="120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Dashboard de Power BI: filtrado por usuario, tienda y categoría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58326" y="3431245"/>
            <a:ext cx="6198037" cy="27146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558326" y="3590806"/>
            <a:ext cx="184808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📖</a:t>
            </a:r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Lecciones Clave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558326" y="3947160"/>
            <a:ext cx="6198037" cy="1881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Autonomía técnica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resolución independiente de fallos de integración (CORS, FK constraints, encoding)</a:t>
            </a:r>
            <a:endParaRPr lang="en-US" sz="120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Juicio de esquema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decisión de normalizar products antes de conectar Power BI — anticipando las necesidades analíticas</a:t>
            </a:r>
            <a:endParaRPr lang="en-US" sz="120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Arquitectura primero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el esquema MySQL se diseñó antes que el código, garantizando que el modelo relacional guíe tanto el ORM como el Star Schema en BI</a:t>
            </a:r>
            <a:endParaRPr lang="en-US" sz="120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Calidad de datos desde el origen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: Pydantic v2 y transacciones atómicas como primera línea de defensa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7724" y="6669643"/>
            <a:ext cx="12954952" cy="780931"/>
          </a:xfrm>
          <a:prstGeom prst="roundRect">
            <a:avLst>
              <a:gd name="adj" fmla="val 3017"/>
            </a:avLst>
          </a:prstGeom>
          <a:solidFill>
            <a:srgbClr val="441709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767" y="6880741"/>
            <a:ext cx="196334" cy="157043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348145" y="6826568"/>
            <a:ext cx="12287488" cy="43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SmartSpend no es solo un rastreador de gastos.</a:t>
            </a:r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Es un sistema de datos relacional, un mini pipeline de ingeniería de datos, una arquitectura lista para analítica avanzada y la base para modelos predictivos con IA real.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2026-02-22T13:46:27Z</dcterms:created>
  <dcterms:modified xsi:type="dcterms:W3CDTF">2026-02-22T13:46:27Z</dcterms:modified>
</cp:coreProperties>
</file>